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Platform Assessment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 Client  |  CIO-Driven  |  Azure Estate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20116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Agentforce the best-fit agent platform, or should an alternative be considered?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Further — Domain-Driven Hybrid  |  Confidence: 62%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 |  Public Information Only  |  Elo + Monte Carlo Scoring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PROFILE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41820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241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9144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41820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0241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651760" y="12618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41820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241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OPTION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0" y="12618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Agentforce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9144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41820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0241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ESTATE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12618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tech debt, hybrid ERP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41820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2128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HYPERSCALER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24505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(cloud)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2103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41820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22128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51760" y="24505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103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41820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128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24505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CRM, CS, Ops, HR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21031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41820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22128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0" y="24505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info only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Assessed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7490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Agentforce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51760" y="37490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Studio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7490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AI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37490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B923C">
              <a:alpha val="1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Azure OpenAI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STACK RANKING (0–100)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Studio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 Mean: 63.5  |  90% CI: [50.9, 75.5]  |  P(#1): 49.6%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0" y="960120"/>
            <a:ext cx="5029200" cy="502920"/>
          </a:xfrm>
          <a:prstGeom prst="rect">
            <a:avLst>
              <a:gd name="adj" fmla="val 7273"/>
            </a:avLst>
          </a:prstGeom>
          <a:solidFill>
            <a:srgbClr val="1A1D28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960120"/>
            <a:ext cx="3193542" cy="502920"/>
          </a:xfrm>
          <a:prstGeom prst="rect">
            <a:avLst>
              <a:gd name="adj" fmla="val 7273"/>
            </a:avLst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6034583" y="960120"/>
            <a:ext cx="1237183" cy="50292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AI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 Mean: 60.5  |  90% CI: [51.3, 70]  |  P(#1): 27.5%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920240"/>
            <a:ext cx="5029200" cy="502920"/>
          </a:xfrm>
          <a:prstGeom prst="rect">
            <a:avLst>
              <a:gd name="adj" fmla="val 7273"/>
            </a:avLst>
          </a:prstGeom>
          <a:solidFill>
            <a:srgbClr val="1A1D28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1920240"/>
            <a:ext cx="3042666" cy="502920"/>
          </a:xfrm>
          <a:prstGeom prst="rect">
            <a:avLst>
              <a:gd name="adj" fmla="val 7273"/>
            </a:avLst>
          </a:prstGeom>
          <a:solidFill>
            <a:srgbClr val="34D399"/>
          </a:solidFill>
          <a:ln/>
        </p:spPr>
      </p:sp>
      <p:sp>
        <p:nvSpPr>
          <p:cNvPr id="14" name="Shape 12"/>
          <p:cNvSpPr/>
          <p:nvPr/>
        </p:nvSpPr>
        <p:spPr>
          <a:xfrm>
            <a:off x="6054700" y="1920240"/>
            <a:ext cx="940460" cy="50292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346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Agentforce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 Mean: 59.9  |  90% CI: [50.3, 70.6]  |  P(#1): 23.0%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2880360"/>
            <a:ext cx="5029200" cy="502920"/>
          </a:xfrm>
          <a:prstGeom prst="rect">
            <a:avLst>
              <a:gd name="adj" fmla="val 7273"/>
            </a:avLst>
          </a:prstGeom>
          <a:solidFill>
            <a:srgbClr val="1A1D28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2880360"/>
            <a:ext cx="3012491" cy="502920"/>
          </a:xfrm>
          <a:prstGeom prst="rect">
            <a:avLst>
              <a:gd name="adj" fmla="val 7273"/>
            </a:avLst>
          </a:prstGeom>
          <a:solidFill>
            <a:srgbClr val="818C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004408" y="2880360"/>
            <a:ext cx="1020928" cy="50292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94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Azure OpenAI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 Mean: 26.0  |  90% CI: [17.1, 34.6]  |  P(#1): 0.0%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3840480"/>
            <a:ext cx="5029200" cy="502920"/>
          </a:xfrm>
          <a:prstGeom prst="rect">
            <a:avLst>
              <a:gd name="adj" fmla="val 7273"/>
            </a:avLst>
          </a:prstGeom>
          <a:solidFill>
            <a:srgbClr val="1A1D28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0" y="3840480"/>
            <a:ext cx="1307592" cy="502920"/>
          </a:xfrm>
          <a:prstGeom prst="rect">
            <a:avLst>
              <a:gd name="adj" fmla="val 7273"/>
            </a:avLst>
          </a:prstGeom>
          <a:solidFill>
            <a:srgbClr val="FB923C"/>
          </a:solidFill>
          <a:ln/>
        </p:spPr>
      </p:sp>
      <p:sp>
        <p:nvSpPr>
          <p:cNvPr id="26" name="Shape 24"/>
          <p:cNvSpPr/>
          <p:nvPr/>
        </p:nvSpPr>
        <p:spPr>
          <a:xfrm>
            <a:off x="4334713" y="3840480"/>
            <a:ext cx="880110" cy="50292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57200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Top 3 options have overlapping confidence intervals — no clear single winner. Recommendation is domain-driven.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MATRIX (0–100 PER CRITERION)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463040"/>
                <a:gridCol w="1463040"/>
                <a:gridCol w="1463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18C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Agentforce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Studio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ServiceNow AI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B9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Azure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&amp; Sales (15%)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Service (15%)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&amp; HR (12%)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Ecosystem (14%)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&amp; Gov (14%)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Fit (10%)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Economics/TCO (10%)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Time-to-Value (10%)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Domain-driven pattern: Agentforce dominates CRM/CS, ServiceNow leads Ops/HR + Governance, Copilot Studio wins Azure alignment + Economics.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686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Further — Domain-Driven Hybrid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62%  |  Overlapping CI bands for top 3 options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41820"/>
          </a:solidFill>
          <a:ln w="635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CRM/Sales + Customer Service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Agentforce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2011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CRM grounding, FS Voice agents, 100/100 in both domains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41820"/>
          </a:solidFill>
          <a:ln w="6350">
            <a:solidFill>
              <a:srgbClr val="1E24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7004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/ HR + Azure workloads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6700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Copilot Studio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267004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Azure-native, burns EDP, strong multi-domain consistency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41820"/>
          </a:solidFill>
          <a:ln w="6350">
            <a:solidFill>
              <a:srgbClr val="1E24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2841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Governance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32841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ServiceNow AI Control Tower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332841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agent governance across SF + Azure + ServiceNow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986784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41820"/>
          </a:solidFill>
          <a:ln w="6350">
            <a:solidFill>
              <a:srgbClr val="1E24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867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Build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98678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Not recommended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398678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3-6+ month timeline, 0% P(rank 1), no pre-built agents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34340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4-week POC: Agentforce (CRM/CS) vs Copilot Studio (Ops/HR) to validate the domain-driven hypothesis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6177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client docs (P1: CRM platform, Azure EDP, ServiceNow status) to narrow confidence bands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89204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cost scenarios using the volumetric framework with client-specific volumes and live Azure pricing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DISCLAIMERS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Scoring: Elo round-robin per criterion (8 criteria, 6 pairwise matches each) + Monte Carlo confidence bands (10,000 trials, fixed seed=7). Zero intransitive triples across all criteria.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Weights: Derived from intake profile (CIO stakeholder, FS industry, multi-domain scope). CRM/Sales and Customer Service weighted highest at 15% each; Azure Ecosystem and Security/Governance at 14% each.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Impartiality: All scores trace to stated client requirements. No Anthropic/Claude/alliance bias. Salesforce's Anthropic partnership (Agentforce supports Claude via Bedrock) was disclosed, not scored.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 Public web search only (June 2026). No client-provided documents. Confidence calibrated accordingly at 62%.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cost model: Test-heaviest distribution (Test 45% / Prod 30% / Dev 25%, 3.35x effective multiplier). Cost analysis not run for this assessment pending client pricing data.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Platform Assessment — Financial Services</dc:title>
  <dc:subject>PptxGenJS Presentation</dc:subject>
  <dc:creator>Platform Comparison Assessment</dc:creator>
  <cp:lastModifiedBy>Platform Comparison Assessment</cp:lastModifiedBy>
  <cp:revision>1</cp:revision>
  <dcterms:created xsi:type="dcterms:W3CDTF">2026-06-17T21:31:04Z</dcterms:created>
  <dcterms:modified xsi:type="dcterms:W3CDTF">2026-06-17T21:31:04Z</dcterms:modified>
</cp:coreProperties>
</file>