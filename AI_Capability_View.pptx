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"/>
            <a:ext cx="12191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</a:rPr>
              <a:t>AI's impact across the Tech Org: Capability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" y="502920"/>
            <a:ext cx="1874519" cy="1828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" y="704088"/>
            <a:ext cx="1874519" cy="1463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Product &amp; Solution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" y="868680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Research (Internal &amp; External)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7" y="868680"/>
            <a:ext cx="896111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Product Portfolio Mgmt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" y="1092708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Business/Functional Requirements Mgmt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1092708"/>
            <a:ext cx="896111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Product Pricing/Financial Mgmt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316736"/>
            <a:ext cx="896111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Product KPI Mgmt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7" y="1316736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Product Roadmapping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540764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Project/Program Mgmt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7" y="1540764"/>
            <a:ext cx="896111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Agile Planning &amp; Mgmt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" y="1764792"/>
            <a:ext cx="896111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Agile Services &amp; Standards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7" y="1764792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Product &amp; Service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" y="1988820"/>
            <a:ext cx="896111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Product Development &amp;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7" y="1988820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Product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" y="2212848"/>
            <a:ext cx="896111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Test Planning &amp; Mgmt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7" y="2212848"/>
            <a:ext cx="896111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System &amp; Integration Testing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" y="2436876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Load &amp; Performance Testing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7" y="2436876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User Acceptance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" y="2660904"/>
            <a:ext cx="896111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Regression &amp; End-to-End Testing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7" y="2660904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Product Configuration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2884932"/>
            <a:ext cx="896111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Service Catalog Mgmt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7" y="2884932"/>
            <a:ext cx="896111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Capacity &amp; Performance Mgmt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108960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Availability Mgmt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7" y="3108960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Service Continuity/Disaster Recovery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3332988"/>
            <a:ext cx="896111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Change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7" y="3332988"/>
            <a:ext cx="896111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Knowledge Mgmt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3557016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Release Mgmt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4127" y="3557016"/>
            <a:ext cx="896111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Monitoring &amp; Event Mgmt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3781044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Incident Mgmt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7" y="3781044"/>
            <a:ext cx="896111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Request Fulfillment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005072"/>
            <a:ext cx="896111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Access Mgmt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7" y="4005072"/>
            <a:ext cx="896111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Problem Mgmt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39112" y="502920"/>
            <a:ext cx="10079431" cy="1828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Tech Platforms, Services, Operations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39112" y="704088"/>
            <a:ext cx="3246120" cy="1463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Tech Business Management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66543" y="868680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Portfolio Mgmt/Prioritization/Reporting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39440" y="868680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Portfolio Governance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2336" y="868680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Demand Intake &amp; Resource Mgmt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66543" y="1092708"/>
            <a:ext cx="1045464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Tech Investment Mgmt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39440" y="1092708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Business Case Development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12336" y="1092708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Resource Mgmt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66543" y="1316736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Benefits Tracking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39440" y="1316736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Financial Planning &amp; Mgmt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12336" y="1316736"/>
            <a:ext cx="1045464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IT Budgeting &amp; Forecasting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66543" y="1540764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IT Capital &amp; Expense Mgmt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39440" y="1540764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IT Financial Reporting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2336" y="1540764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Fixed Asset Mgmt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66543" y="1764792"/>
            <a:ext cx="1045464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Service Cost &amp; Visibility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39440" y="1764792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IT Project/Product Costing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39112" y="2061972"/>
            <a:ext cx="3246120" cy="1463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Enterprise Architecture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66543" y="2226564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Enterprise Architecture Repositories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39440" y="2226564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Solution/Product Architecture Mgmt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12336" y="2226564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Business Architecture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66543" y="2450592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Security Architecture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39440" y="2450592"/>
            <a:ext cx="1045464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Infrastructure Architecture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12336" y="2450592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App &amp; Integration Architecture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66543" y="2674620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Platform Architecture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39440" y="2674620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Portfolio Architecture Mgmt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12336" y="2674620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Architecture Governance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66543" y="2898648"/>
            <a:ext cx="1045464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Network Architecture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39440" y="2898648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Architecture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12336" y="2898648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Infrastructure Architecture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39112" y="3195828"/>
            <a:ext cx="3246120" cy="1463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Data &amp; Analytics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66543" y="3360420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Standardized Reporting &amp; Visualization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39440" y="3360420"/>
            <a:ext cx="1045464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Reports &amp; Dashboards (Product Mgmt)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12336" y="3360420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Self-Service (Enable End-Users)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66543" y="3584448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User Access Reqs &amp; Ad-hoc Access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39440" y="3584448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Create Ad-Hoc Reports &amp; Dashboards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12336" y="3584448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Wrangling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66543" y="3808476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Discovery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39440" y="3808476"/>
            <a:ext cx="1045464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Business Intelligence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12336" y="3808476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Science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66543" y="4032504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Policy &amp; Standards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39440" y="4032504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Quality Mgmt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12336" y="4032504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Acquisition, Procurement, Integration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66543" y="4256532"/>
            <a:ext cx="1045464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Platform Engineering &amp; Mgmt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39440" y="4256532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Infrastructure Mgmt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12336" y="4256532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Transformation &amp; Integration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066543" y="4480560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Tool Lifecycle Mgmt &amp; Support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39440" y="4480560"/>
            <a:ext cx="1045464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Integration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12336" y="4480560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Storage &amp; Recovery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66543" y="4704588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Semantic Layer &amp; Custom Subject Areas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39440" y="4704588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Privacy &amp; Compliance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12336" y="4704588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Access Controls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66543" y="4928616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BI &amp; Data Tool Access Mgmt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139440" y="4928616"/>
            <a:ext cx="1045464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Dashboard &amp; Report Access Controls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12336" y="4928616"/>
            <a:ext cx="1045464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Trustworthy AI &amp; Risk Mgmt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66543" y="5152644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AI/ML Solution Build (for Reporting)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139440" y="5152644"/>
            <a:ext cx="1045464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AI Model Governance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76671" y="704088"/>
            <a:ext cx="2697480" cy="1463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Tech Strategy &amp; Innovation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04103" y="868680"/>
            <a:ext cx="1307592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Technology Strategy Development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39127" y="868680"/>
            <a:ext cx="1307592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Innovation Intent &amp; Strategy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04103" y="1092708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Sensing &amp; Scanning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739127" y="1092708"/>
            <a:ext cx="1307592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Innovation Portfolio Mgmt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04103" y="1316736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Prototyping &amp; Proof of Concept Development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39127" y="1316736"/>
            <a:ext cx="1307592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Incubation Platforms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04103" y="1540764"/>
            <a:ext cx="1307592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Automation Platform Mgmt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39127" y="1540764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AI Platform Mgmt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04103" y="1764792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Automation &amp; Regression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739127" y="1764792"/>
            <a:ext cx="1307592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Performance &amp; Volumetrics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76671" y="2061972"/>
            <a:ext cx="2697480" cy="1463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Infrastructure Engineering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04103" y="2226564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Server Mgmt (Design, Build, Deploy, Support)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739127" y="2226564"/>
            <a:ext cx="1307592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Storage Mgmt (Design, Build, Deploy, Support)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04103" y="2450592"/>
            <a:ext cx="1307592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Database Administration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739127" y="2450592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Center Operations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04103" y="2674620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Infrastructure Reliability Engineering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739127" y="2674620"/>
            <a:ext cx="1307592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Disaster Recovery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76671" y="2971800"/>
            <a:ext cx="2697480" cy="1463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Platform Engineering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04103" y="3136392"/>
            <a:ext cx="1307592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IoT Platform Mgmt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739127" y="3136392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IaaS Mgmt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404103" y="3360420"/>
            <a:ext cx="1307592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SaaS Mgmt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739127" y="3360420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API/Integration Mgmt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04103" y="3584448"/>
            <a:ext cx="1307592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Automation Platform Mgmt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739127" y="3584448"/>
            <a:ext cx="1307592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DevSecOps Platform Mgmt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404103" y="3808476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Cloud Platform Development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739127" y="3808476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Cloud Operations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04103" y="4032504"/>
            <a:ext cx="1307592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Cloud Financial Mgmt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376671" y="4329684"/>
            <a:ext cx="2697480" cy="1463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Network Engineering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04103" y="4494276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Network Operations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39127" y="4494276"/>
            <a:ext cx="1307592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WAN/LAN Mgmt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04103" y="4718304"/>
            <a:ext cx="1307592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Firewall Mgmt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739127" y="4718304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Telecom Mgmt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404103" y="4942332"/>
            <a:ext cx="1307592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Network Reliability Engineering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165591" y="704088"/>
            <a:ext cx="3952951" cy="1463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Information Security Management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193023" y="868680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Asset Mgmt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74403" y="868680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Strategy Dev &amp; Mgmt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155783" y="868680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Business Engagement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137163" y="868680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Security Policies &amp; Standards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193023" y="1092708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Security Metrics &amp; Reporting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74403" y="1092708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Regulatory Reqs &amp; Compliance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155783" y="1092708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Security Communications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137163" y="1092708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Security Risk Assessment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193023" y="1316736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Secure Mergers &amp; Acquisitions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74403" y="1316736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Risk Mgmt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155783" y="1316736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Issues Mgmt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137163" y="1316736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Operations Tech Security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193023" y="1540764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Third Party Risk Mgmt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174403" y="1540764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Identity &amp; Access Mgmt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155783" y="1540764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Security Governance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1137163" y="1540764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ID &amp; Classification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193023" y="1764792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Encryption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174403" y="1764792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Data Loss Prevention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155783" y="1764792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Certification &amp; Key Mgmt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137163" y="1764792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Security Awareness &amp; Training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193023" y="1988820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Application Security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74403" y="1988820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Cloud Security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155783" y="1988820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Vulnerability Mgmt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1137163" y="1988820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Configuration Mgmt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193023" y="2212848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Endpoint Security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74403" y="2212848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Network Security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155783" y="2212848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Security Incident &amp; Event Monitoring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137163" y="2212848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Security Operations Center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193023" y="2436876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Threat Intel/Threat Hunting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174403" y="2436876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Penetration Testing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155783" y="2436876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Adversarial Simulation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1137163" y="2436876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Crisis Response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193023" y="2660904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Incident Response Plan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174403" y="2660904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Disaster Recovery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155783" y="2660904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Business Continuity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165591" y="2958084"/>
            <a:ext cx="3952951" cy="1463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Partnerships &amp; Ecosystem Management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193023" y="3122676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Business Relationships Mgmt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174403" y="3122676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Inter-IT Relationships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0155783" y="3122676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Partner Strategy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137163" y="3122676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SLA Development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193023" y="3346704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SLA Metrics &amp; Reporting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174403" y="3346704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Continuous Services Improvement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155783" y="3346704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Chargeback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137163" y="3346704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Service Quality Mgmt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193023" y="3570732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Tech Service Perf Mgmt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174403" y="3570732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Service Delivery Standards Mgmt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155783" y="3570732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Sourcing &amp; Procurement Mgmt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137163" y="3570732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Vendor Mgmt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8193023" y="3794760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Multi Service Provider Integration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174403" y="3794760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Supplier Relation Mgmt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155783" y="3794760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Supplier Performance Mgmt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1137163" y="3794760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Contract Mgmt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193023" y="4018788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Supplier Relationship Mgmt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165591" y="4315968"/>
            <a:ext cx="3952951" cy="1463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IT Enabling Services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193023" y="4480560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Contact Center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174403" y="4480560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Service Desk/Field Services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0155783" y="4480560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Desktop Mgmt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1137163" y="4480560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Collaboration Mgmt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193023" y="4704588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Unified Comms Mgmt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174403" y="4704588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Production Operations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0155783" y="4704588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Technology Help Desk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1137163" y="4704588"/>
            <a:ext cx="95394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Incident Mgmt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193023" y="4928616"/>
            <a:ext cx="95394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Problem Mgmt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174403" y="4928616"/>
            <a:ext cx="95394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Tech Marketing &amp; Comms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039112" y="5449824"/>
            <a:ext cx="10079431" cy="1463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Technology Talent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066543" y="5614416"/>
            <a:ext cx="248556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Talent Strategy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579543" y="5614416"/>
            <a:ext cx="248556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Workforce Strategy &amp; Planning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092543" y="5614416"/>
            <a:ext cx="248556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Talent Acquisition &amp; Branding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605543" y="5614416"/>
            <a:ext cx="2485567" cy="205740"/>
          </a:xfrm>
          <a:prstGeom prst="rect">
            <a:avLst/>
          </a:prstGeom>
          <a:solidFill>
            <a:srgbClr val="4CA7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Succession Planning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066543" y="5838444"/>
            <a:ext cx="248556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Performance &amp; Rewards Mgmt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579543" y="5838444"/>
            <a:ext cx="248556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Organizational Change Mgmt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092543" y="5838444"/>
            <a:ext cx="2485567" cy="205740"/>
          </a:xfrm>
          <a:prstGeom prst="rect">
            <a:avLst/>
          </a:prstGeom>
          <a:solidFill>
            <a:srgbClr val="A9D18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Learning &amp; Development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9605543" y="5838444"/>
            <a:ext cx="2485567" cy="20574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500" b="0">
                <a:solidFill>
                  <a:srgbClr val="1A1A1A"/>
                </a:solidFill>
                <a:latin typeface="Arial"/>
              </a:rPr>
              <a:t>Career Mobility &amp; Retention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039112" y="63002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LEGEND: </a:t>
            </a:r>
            <a:r>
              <a:rPr sz="1100" b="1" i="1">
                <a:solidFill>
                  <a:srgbClr val="1A1A1A"/>
                </a:solidFill>
                <a:latin typeface="Arial"/>
              </a:rPr>
              <a:t>Degree of Expected AI Impact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056631" y="6318504"/>
            <a:ext cx="237744" cy="237744"/>
          </a:xfrm>
          <a:prstGeom prst="rect">
            <a:avLst/>
          </a:prstGeom>
          <a:solidFill>
            <a:srgbClr val="4CA72C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330951" y="6263640"/>
            <a:ext cx="2043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1A"/>
                </a:solidFill>
                <a:latin typeface="Arial"/>
              </a:rPr>
              <a:t>= AI Powered</a:t>
            </a:r>
          </a:p>
          <a:p>
            <a:r>
              <a:rPr sz="750" b="0" i="1">
                <a:solidFill>
                  <a:srgbClr val="1A1A1A"/>
                </a:solidFill>
                <a:latin typeface="Arial"/>
              </a:rPr>
              <a:t>80% AI / 20% Human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410602" y="6318504"/>
            <a:ext cx="237744" cy="237744"/>
          </a:xfrm>
          <a:prstGeom prst="rect">
            <a:avLst/>
          </a:prstGeom>
          <a:solidFill>
            <a:srgbClr val="A9D18E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684922" y="6263640"/>
            <a:ext cx="2043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1A"/>
                </a:solidFill>
                <a:latin typeface="Arial"/>
              </a:rPr>
              <a:t>= AI Augmented</a:t>
            </a:r>
          </a:p>
          <a:p>
            <a:r>
              <a:rPr sz="750" b="0" i="1">
                <a:solidFill>
                  <a:srgbClr val="1A1A1A"/>
                </a:solidFill>
                <a:latin typeface="Arial"/>
              </a:rPr>
              <a:t>50% AI / 50% Human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9764572" y="6318504"/>
            <a:ext cx="237744" cy="237744"/>
          </a:xfrm>
          <a:prstGeom prst="rect">
            <a:avLst/>
          </a:prstGeom>
          <a:solidFill>
            <a:srgbClr val="E2EFDA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038892" y="6263640"/>
            <a:ext cx="2043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1A"/>
                </a:solidFill>
                <a:latin typeface="Arial"/>
              </a:rPr>
              <a:t>= AI Assisted</a:t>
            </a:r>
          </a:p>
          <a:p>
            <a:r>
              <a:rPr sz="750" b="0" i="1">
                <a:solidFill>
                  <a:srgbClr val="1A1A1A"/>
                </a:solidFill>
                <a:latin typeface="Arial"/>
              </a:rPr>
              <a:t>20% AI / 80% Human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