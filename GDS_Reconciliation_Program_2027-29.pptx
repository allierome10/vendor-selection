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F4D"/>
                </a:solidFill>
                <a:latin typeface="Calibri"/>
              </a:rPr>
              <a:t>GDS Reconciliation Program 2027-29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5FE0"/>
                </a:solidFill>
                <a:latin typeface="Calibri"/>
              </a:rPr>
              <a:t>Consolidating 272 FTEs across 10+ countries into Data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6373"/>
                </a:solidFill>
                <a:latin typeface="Calibri"/>
              </a:rPr>
              <a:t>Spanning data acquisition, non-core reconciliations and recon development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1344168"/>
            <a:ext cx="475488" cy="475488"/>
          </a:xfrm>
          <a:prstGeom prst="ellipse">
            <a:avLst/>
          </a:prstGeom>
          <a:noFill/>
          <a:ln w="2222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F5FE0"/>
                </a:solidFill>
                <a:latin typeface="Calibri"/>
              </a:rPr>
              <a:t>272</a:t>
            </a:r>
            <a:r>
              <a:rPr sz="1150" b="1">
                <a:solidFill>
                  <a:srgbClr val="1B2233"/>
                </a:solidFill>
                <a:latin typeface="Calibri"/>
              </a:rPr>
              <a:t>  FTEs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6373"/>
                </a:solidFill>
                <a:latin typeface="Calibri"/>
              </a:rPr>
              <a:t>Combined</a:t>
            </a:r>
          </a:p>
          <a:p>
            <a:pPr algn="l"/>
            <a:r>
              <a:rPr sz="900" b="0" i="0">
                <a:solidFill>
                  <a:srgbClr val="596373"/>
                </a:solidFill>
                <a:latin typeface="Calibri"/>
              </a:rPr>
              <a:t>(3 teams)</a:t>
            </a:r>
          </a:p>
        </p:txBody>
      </p:sp>
      <p:sp>
        <p:nvSpPr>
          <p:cNvPr id="8" name="Chevron 7"/>
          <p:cNvSpPr/>
          <p:nvPr/>
        </p:nvSpPr>
        <p:spPr>
          <a:xfrm>
            <a:off x="2331720" y="1344168"/>
            <a:ext cx="475488" cy="475488"/>
          </a:xfrm>
          <a:prstGeom prst="chevron">
            <a:avLst/>
          </a:prstGeom>
          <a:noFill/>
          <a:ln w="2222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129844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F5FE0"/>
                </a:solidFill>
                <a:latin typeface="Calibri"/>
              </a:rPr>
              <a:t>238</a:t>
            </a:r>
            <a:r>
              <a:rPr sz="1150" b="1">
                <a:solidFill>
                  <a:srgbClr val="1B2233"/>
                </a:solidFill>
                <a:latin typeface="Calibri"/>
              </a:rPr>
              <a:t>  FTEs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1618488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6373"/>
                </a:solidFill>
                <a:latin typeface="Calibri"/>
              </a:rPr>
              <a:t>Projected</a:t>
            </a:r>
          </a:p>
          <a:p>
            <a:pPr algn="l"/>
            <a:r>
              <a:rPr sz="900" b="0" i="0">
                <a:solidFill>
                  <a:srgbClr val="596373"/>
                </a:solidFill>
                <a:latin typeface="Calibri"/>
              </a:rPr>
              <a:t>by Aug'26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67127" y="1298448"/>
            <a:ext cx="0" cy="658367"/>
          </a:xfrm>
          <a:prstGeom prst="line">
            <a:avLst/>
          </a:prstGeom>
          <a:ln w="12700">
            <a:solidFill>
              <a:srgbClr val="D8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343400" y="1344168"/>
            <a:ext cx="475488" cy="475488"/>
          </a:xfrm>
          <a:prstGeom prst="ellipse">
            <a:avLst/>
          </a:prstGeom>
          <a:noFill/>
          <a:ln w="2222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29844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F5FE0"/>
                </a:solidFill>
                <a:latin typeface="Calibri"/>
              </a:rPr>
              <a:t>3</a:t>
            </a:r>
            <a:r>
              <a:rPr sz="1150" b="1">
                <a:solidFill>
                  <a:srgbClr val="1B2233"/>
                </a:solidFill>
                <a:latin typeface="Calibri"/>
              </a:rPr>
              <a:t> 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18488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6373"/>
                </a:solidFill>
                <a:latin typeface="Calibri"/>
              </a:rPr>
              <a:t>Consolidated</a:t>
            </a:r>
          </a:p>
          <a:p>
            <a:pPr algn="l"/>
            <a:r>
              <a:rPr sz="900" b="0" i="0">
                <a:solidFill>
                  <a:srgbClr val="596373"/>
                </a:solidFill>
                <a:latin typeface="Calibri"/>
              </a:rPr>
              <a:t>into Data Ops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78808" y="1298448"/>
            <a:ext cx="0" cy="658367"/>
          </a:xfrm>
          <a:prstGeom prst="line">
            <a:avLst/>
          </a:prstGeom>
          <a:ln w="12700">
            <a:solidFill>
              <a:srgbClr val="D8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onut 15"/>
          <p:cNvSpPr/>
          <p:nvPr/>
        </p:nvSpPr>
        <p:spPr>
          <a:xfrm>
            <a:off x="6355080" y="1344168"/>
            <a:ext cx="475488" cy="475488"/>
          </a:xfrm>
          <a:prstGeom prst="donut">
            <a:avLst/>
          </a:prstGeom>
          <a:noFill/>
          <a:ln w="2222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29844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F5FE0"/>
                </a:solidFill>
                <a:latin typeface="Calibri"/>
              </a:rPr>
              <a:t>10+</a:t>
            </a:r>
            <a:r>
              <a:rPr sz="1150" b="1">
                <a:solidFill>
                  <a:srgbClr val="1B2233"/>
                </a:solidFill>
                <a:latin typeface="Calibri"/>
              </a:rPr>
              <a:t>  Countries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618488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6373"/>
                </a:solidFill>
                <a:latin typeface="Calibri"/>
              </a:rPr>
              <a:t>Global</a:t>
            </a:r>
          </a:p>
          <a:p>
            <a:pPr algn="l"/>
            <a:r>
              <a:rPr sz="900" b="0" i="0">
                <a:solidFill>
                  <a:srgbClr val="596373"/>
                </a:solidFill>
                <a:latin typeface="Calibri"/>
              </a:rPr>
              <a:t>Footprint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90488" y="1298448"/>
            <a:ext cx="0" cy="658367"/>
          </a:xfrm>
          <a:prstGeom prst="line">
            <a:avLst/>
          </a:prstGeom>
          <a:ln w="12700">
            <a:solidFill>
              <a:srgbClr val="D8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66760" y="1024127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1F4D"/>
                </a:solidFill>
                <a:latin typeface="Calibri"/>
              </a:rPr>
              <a:t>Global Reach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261872"/>
            <a:ext cx="3520440" cy="960120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41080" y="1490472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0" y="1426463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2560" y="1645919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0" y="1536192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38360" y="1463039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75520" y="1645919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1280" y="1581912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69880" y="1490472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81360" y="1682495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09960" y="1792224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84280" y="1609343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567160" y="1901952"/>
            <a:ext cx="73152" cy="73152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0040" y="2286000"/>
            <a:ext cx="4709160" cy="169164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92440" y="228600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37744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Calibri"/>
              </a:rPr>
              <a:t>CURRENT 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7744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Calibri"/>
              </a:rPr>
              <a:t>FUTURE STATE (2027-29)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" y="2578608"/>
            <a:ext cx="594360" cy="5943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86384" y="2724912"/>
            <a:ext cx="301752" cy="301752"/>
          </a:xfrm>
          <a:prstGeom prst="ellipse">
            <a:avLst/>
          </a:prstGeom>
          <a:noFill/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19" y="3236976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1F4D"/>
                </a:solidFill>
                <a:latin typeface="Calibri"/>
              </a:rPr>
              <a:t>Data Acquisition</a:t>
            </a:r>
          </a:p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1F4D"/>
                </a:solidFill>
                <a:latin typeface="Calibri"/>
              </a:rPr>
              <a:t>Group (DAG)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19" y="3694176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F5FE0"/>
                </a:solidFill>
                <a:latin typeface="Calibri"/>
              </a:rPr>
              <a:t>70</a:t>
            </a:r>
            <a:r>
              <a:rPr sz="900" b="0">
                <a:solidFill>
                  <a:srgbClr val="1B2233"/>
                </a:solidFill>
                <a:latin typeface="Calibri"/>
              </a:rPr>
              <a:t> FTEs</a:t>
            </a:r>
          </a:p>
        </p:txBody>
      </p:sp>
      <p:sp>
        <p:nvSpPr>
          <p:cNvPr id="42" name="Oval 41"/>
          <p:cNvSpPr/>
          <p:nvPr/>
        </p:nvSpPr>
        <p:spPr>
          <a:xfrm>
            <a:off x="2103120" y="2578608"/>
            <a:ext cx="594360" cy="594360"/>
          </a:xfrm>
          <a:prstGeom prst="ellipse">
            <a:avLst/>
          </a:prstGeom>
          <a:solidFill>
            <a:srgbClr val="1E9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49424" y="2724912"/>
            <a:ext cx="301752" cy="301752"/>
          </a:xfrm>
          <a:prstGeom prst="ellipse">
            <a:avLst/>
          </a:prstGeom>
          <a:noFill/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37360" y="3236976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1F4D"/>
                </a:solidFill>
                <a:latin typeface="Calibri"/>
              </a:rPr>
              <a:t>Non-Core</a:t>
            </a:r>
          </a:p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1F4D"/>
                </a:solidFill>
                <a:latin typeface="Calibri"/>
              </a:rPr>
              <a:t>Reconciliations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3694176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9E8B"/>
                </a:solidFill>
                <a:latin typeface="Calibri"/>
              </a:rPr>
              <a:t>189</a:t>
            </a:r>
            <a:r>
              <a:rPr sz="900" b="0">
                <a:solidFill>
                  <a:srgbClr val="1B2233"/>
                </a:solidFill>
                <a:latin typeface="Calibri"/>
              </a:rPr>
              <a:t> FTEs</a:t>
            </a:r>
          </a:p>
        </p:txBody>
      </p:sp>
      <p:sp>
        <p:nvSpPr>
          <p:cNvPr id="46" name="Oval 45"/>
          <p:cNvSpPr/>
          <p:nvPr/>
        </p:nvSpPr>
        <p:spPr>
          <a:xfrm>
            <a:off x="3566160" y="2578608"/>
            <a:ext cx="594360" cy="594360"/>
          </a:xfrm>
          <a:prstGeom prst="ellipse">
            <a:avLst/>
          </a:prstGeom>
          <a:solidFill>
            <a:srgbClr val="7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12463" y="2724912"/>
            <a:ext cx="301752" cy="301752"/>
          </a:xfrm>
          <a:prstGeom prst="ellipse">
            <a:avLst/>
          </a:prstGeom>
          <a:noFill/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0" y="3236976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1F4D"/>
                </a:solidFill>
                <a:latin typeface="Calibri"/>
              </a:rPr>
              <a:t>Complex Ops -</a:t>
            </a:r>
          </a:p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1F4D"/>
                </a:solidFill>
                <a:latin typeface="Calibri"/>
              </a:rPr>
              <a:t>Data Acquisition &amp;</a:t>
            </a:r>
          </a:p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1F4D"/>
                </a:solidFill>
                <a:latin typeface="Calibri"/>
              </a:rPr>
              <a:t>Recon 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3694176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B4FB0"/>
                </a:solidFill>
                <a:latin typeface="Calibri"/>
              </a:rPr>
              <a:t>13</a:t>
            </a:r>
            <a:r>
              <a:rPr sz="900" b="0">
                <a:solidFill>
                  <a:srgbClr val="1B2233"/>
                </a:solidFill>
                <a:latin typeface="Calibri"/>
              </a:rPr>
              <a:t> FTEs</a:t>
            </a:r>
          </a:p>
        </p:txBody>
      </p:sp>
      <p:sp>
        <p:nvSpPr>
          <p:cNvPr id="50" name="Oval 49"/>
          <p:cNvSpPr/>
          <p:nvPr/>
        </p:nvSpPr>
        <p:spPr>
          <a:xfrm>
            <a:off x="5257800" y="2395728"/>
            <a:ext cx="1188720" cy="1188720"/>
          </a:xfrm>
          <a:prstGeom prst="ellipse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800" y="278892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Data Ops</a:t>
            </a:r>
          </a:p>
        </p:txBody>
      </p:sp>
      <p:sp>
        <p:nvSpPr>
          <p:cNvPr id="52" name="Chevron 51"/>
          <p:cNvSpPr/>
          <p:nvPr/>
        </p:nvSpPr>
        <p:spPr>
          <a:xfrm>
            <a:off x="4800600" y="2724912"/>
            <a:ext cx="457200" cy="411480"/>
          </a:xfrm>
          <a:prstGeom prst="chevron">
            <a:avLst/>
          </a:prstGeom>
          <a:solidFill>
            <a:srgbClr val="B9C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9160" y="36301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F5FE0"/>
                </a:solidFill>
                <a:latin typeface="Calibri"/>
              </a:rPr>
              <a:t>One Unified Team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F5FE0"/>
                </a:solidFill>
                <a:latin typeface="Calibri"/>
              </a:rPr>
              <a:t>Stronger Together</a:t>
            </a:r>
          </a:p>
        </p:txBody>
      </p:sp>
      <p:sp>
        <p:nvSpPr>
          <p:cNvPr id="54" name="Gear 9 53"/>
          <p:cNvSpPr/>
          <p:nvPr/>
        </p:nvSpPr>
        <p:spPr>
          <a:xfrm>
            <a:off x="8275320" y="2606040"/>
            <a:ext cx="274320" cy="274320"/>
          </a:xfrm>
          <a:prstGeom prst="gear9">
            <a:avLst/>
          </a:prstGeom>
          <a:noFill/>
          <a:ln w="2222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1080" y="257860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233"/>
                </a:solidFill>
                <a:latin typeface="Calibri"/>
              </a:rPr>
              <a:t>Integrated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233"/>
                </a:solidFill>
                <a:latin typeface="Calibri"/>
              </a:rPr>
              <a:t>Capabilities</a:t>
            </a:r>
          </a:p>
        </p:txBody>
      </p:sp>
      <p:sp>
        <p:nvSpPr>
          <p:cNvPr id="56" name="Up Arrow 55"/>
          <p:cNvSpPr/>
          <p:nvPr/>
        </p:nvSpPr>
        <p:spPr>
          <a:xfrm>
            <a:off x="10058400" y="2606040"/>
            <a:ext cx="274320" cy="274320"/>
          </a:xfrm>
          <a:prstGeom prst="upArrow">
            <a:avLst/>
          </a:prstGeom>
          <a:noFill/>
          <a:ln w="2222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24160" y="257860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233"/>
                </a:solidFill>
                <a:latin typeface="Calibri"/>
              </a:rPr>
              <a:t>Scale &amp;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233"/>
                </a:solidFill>
                <a:latin typeface="Calibri"/>
              </a:rPr>
              <a:t>Efficiency</a:t>
            </a:r>
          </a:p>
        </p:txBody>
      </p:sp>
      <p:sp>
        <p:nvSpPr>
          <p:cNvPr id="58" name="Lightning Bolt 57"/>
          <p:cNvSpPr/>
          <p:nvPr/>
        </p:nvSpPr>
        <p:spPr>
          <a:xfrm>
            <a:off x="8275320" y="3154680"/>
            <a:ext cx="274320" cy="274320"/>
          </a:xfrm>
          <a:prstGeom prst="lightningBolt">
            <a:avLst/>
          </a:prstGeom>
          <a:noFill/>
          <a:ln w="2222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1080" y="31272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233"/>
                </a:solidFill>
                <a:latin typeface="Calibri"/>
              </a:rPr>
              <a:t>Consistent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233"/>
                </a:solidFill>
                <a:latin typeface="Calibri"/>
              </a:rPr>
              <a:t>Standards</a:t>
            </a:r>
          </a:p>
        </p:txBody>
      </p:sp>
      <p:sp>
        <p:nvSpPr>
          <p:cNvPr id="60" name="Oval 59"/>
          <p:cNvSpPr/>
          <p:nvPr/>
        </p:nvSpPr>
        <p:spPr>
          <a:xfrm>
            <a:off x="10058400" y="3154680"/>
            <a:ext cx="274320" cy="274320"/>
          </a:xfrm>
          <a:prstGeom prst="ellipse">
            <a:avLst/>
          </a:prstGeom>
          <a:noFill/>
          <a:ln w="2222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60" y="31272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233"/>
                </a:solidFill>
                <a:latin typeface="Calibri"/>
              </a:rPr>
              <a:t>Stronger Client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233"/>
                </a:solidFill>
                <a:latin typeface="Calibri"/>
              </a:rPr>
              <a:t>Outcomes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0040" y="4041648"/>
            <a:ext cx="3703320" cy="2377440"/>
          </a:xfrm>
          <a:prstGeom prst="roundRect">
            <a:avLst>
              <a:gd name="adj" fmla="val 2000"/>
            </a:avLst>
          </a:prstGeom>
          <a:solidFill>
            <a:srgbClr val="F7F9FD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0040" y="4041648"/>
            <a:ext cx="37033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9768" y="4123944"/>
            <a:ext cx="237744" cy="237744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9768" y="412394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2" y="4096511"/>
            <a:ext cx="315467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F5FE0"/>
                </a:solidFill>
                <a:latin typeface="Calibri"/>
              </a:rPr>
              <a:t>DATA ACQUISITION GROUP (DAG)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0040" y="4443984"/>
            <a:ext cx="3703319" cy="0"/>
          </a:xfrm>
          <a:prstGeom prst="line">
            <a:avLst/>
          </a:prstGeom>
          <a:ln w="9525">
            <a:solidFill>
              <a:srgbClr val="D8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429768" y="4535424"/>
            <a:ext cx="274320" cy="274320"/>
          </a:xfrm>
          <a:prstGeom prst="ellipse">
            <a:avLst/>
          </a:prstGeom>
          <a:noFill/>
          <a:ln w="2222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952" y="452628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5FE0"/>
                </a:solidFill>
                <a:latin typeface="Calibri"/>
              </a:rPr>
              <a:t>70</a:t>
            </a:r>
            <a:r>
              <a:rPr sz="950" b="0">
                <a:solidFill>
                  <a:srgbClr val="1B2233"/>
                </a:solidFill>
                <a:latin typeface="Calibri"/>
              </a:rPr>
              <a:t>  FTEs  </a:t>
            </a:r>
            <a:r>
              <a:rPr sz="850" b="0">
                <a:solidFill>
                  <a:srgbClr val="596373"/>
                </a:solidFill>
                <a:latin typeface="Calibri"/>
              </a:rPr>
              <a:t>-&gt; 55 by Aug'26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8" y="4837176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F5FE0"/>
                </a:solidFill>
                <a:latin typeface="Calibri"/>
              </a:rPr>
              <a:t>KEY ACTIVITIES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9768" y="5029200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File ingestion, transformation &amp; load into TLP via ETL / DEH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Static maintenance - fund set-up, TLP amendments and closures across the lifecycle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Feed maintenance - non-SWIFT manual upload, exception handling, ledger-vs-custody validation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Split across Back Office (22) and Middle Office (48)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70632" y="4526280"/>
            <a:ext cx="1161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F5FE0"/>
                </a:solidFill>
                <a:latin typeface="Calibri"/>
              </a:rPr>
              <a:t>LOCATION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70632" y="4736592"/>
            <a:ext cx="11612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B2233"/>
                </a:solidFill>
                <a:latin typeface="Calibri"/>
              </a:rPr>
              <a:t>India - Coimbatore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70632" y="4919472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27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70632" y="5093208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Pune 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70632" y="5266944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Chennai 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70632" y="5440680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Bangalore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70632" y="5614416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(~6 yrs avg experience)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06240" y="4041648"/>
            <a:ext cx="3703320" cy="2377440"/>
          </a:xfrm>
          <a:prstGeom prst="roundRect">
            <a:avLst>
              <a:gd name="adj" fmla="val 2000"/>
            </a:avLst>
          </a:prstGeom>
          <a:solidFill>
            <a:srgbClr val="F7F9FD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206240" y="4041648"/>
            <a:ext cx="37033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315968" y="4123944"/>
            <a:ext cx="237744" cy="237744"/>
          </a:xfrm>
          <a:prstGeom prst="ellipse">
            <a:avLst/>
          </a:prstGeom>
          <a:solidFill>
            <a:srgbClr val="1E9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15968" y="412394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45152" y="4096511"/>
            <a:ext cx="315467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E9E8B"/>
                </a:solidFill>
                <a:latin typeface="Calibri"/>
              </a:rPr>
              <a:t>NON-CORE RECONCILIATIONS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206240" y="4443984"/>
            <a:ext cx="3703319" cy="0"/>
          </a:xfrm>
          <a:prstGeom prst="line">
            <a:avLst/>
          </a:prstGeom>
          <a:ln w="9525">
            <a:solidFill>
              <a:srgbClr val="D8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315968" y="4535424"/>
            <a:ext cx="274320" cy="274320"/>
          </a:xfrm>
          <a:prstGeom prst="ellipse">
            <a:avLst/>
          </a:prstGeom>
          <a:noFill/>
          <a:ln w="22225">
            <a:solidFill>
              <a:srgbClr val="1E9E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45152" y="452628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9E8B"/>
                </a:solidFill>
                <a:latin typeface="Calibri"/>
              </a:rPr>
              <a:t>189</a:t>
            </a:r>
            <a:r>
              <a:rPr sz="950" b="0">
                <a:solidFill>
                  <a:srgbClr val="1B2233"/>
                </a:solidFill>
                <a:latin typeface="Calibri"/>
              </a:rPr>
              <a:t>  FTEs  </a:t>
            </a:r>
            <a:r>
              <a:rPr sz="850" b="0">
                <a:solidFill>
                  <a:srgbClr val="596373"/>
                </a:solidFill>
                <a:latin typeface="Calibri"/>
              </a:rPr>
              <a:t>-&gt; 170 by Aug'26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15968" y="4837176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E9E8B"/>
                </a:solidFill>
                <a:latin typeface="Calibri"/>
              </a:rPr>
              <a:t>KEY ACTIVITIES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15968" y="5029200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Reconcile State Street books of record vs external parties (IMs, brokers, transfer agents, prime brokers)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Regulatory (UCTS / AIFMD / EMIR) and non-regulatory recon, T+1 / T+2, daily to quarterly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Full recon lifecycle - matching, research &amp; coding, query resolution, review &amp; sign-off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15+ products: Collateral &amp; Repo, TMVR, FX, Fund Accounting, Other Recons, Self-Service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56831" y="4526280"/>
            <a:ext cx="1161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E9E8B"/>
                </a:solidFill>
                <a:latin typeface="Calibri"/>
              </a:rPr>
              <a:t>LOCATION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6831" y="4736592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10+ regions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56831" y="4910328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Ireland,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56831" y="5084064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Luxembourg, UK,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56831" y="5257800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France, Italy,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56831" y="5431536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Netherlands,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56831" y="5605272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Germany, US,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56831" y="5779008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Canada, APAC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092440" y="4041648"/>
            <a:ext cx="3703320" cy="2377440"/>
          </a:xfrm>
          <a:prstGeom prst="roundRect">
            <a:avLst>
              <a:gd name="adj" fmla="val 2000"/>
            </a:avLst>
          </a:prstGeom>
          <a:solidFill>
            <a:srgbClr val="F7F9FD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092440" y="4041648"/>
            <a:ext cx="37033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202167" y="4123944"/>
            <a:ext cx="237744" cy="237744"/>
          </a:xfrm>
          <a:prstGeom prst="ellipse">
            <a:avLst/>
          </a:prstGeom>
          <a:solidFill>
            <a:srgbClr val="7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02167" y="412394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31352" y="4096511"/>
            <a:ext cx="315467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B4FB0"/>
                </a:solidFill>
                <a:latin typeface="Calibri"/>
              </a:rPr>
              <a:t>COMPLEX OPS - DATA ACQUISITION &amp;</a:t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B4FB0"/>
                </a:solidFill>
                <a:latin typeface="Calibri"/>
              </a:rPr>
              <a:t>RECON DEVELOPMENT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8092440" y="4443984"/>
            <a:ext cx="3703319" cy="0"/>
          </a:xfrm>
          <a:prstGeom prst="line">
            <a:avLst/>
          </a:prstGeom>
          <a:ln w="9525">
            <a:solidFill>
              <a:srgbClr val="D8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8202167" y="4535424"/>
            <a:ext cx="274320" cy="274320"/>
          </a:xfrm>
          <a:prstGeom prst="ellipse">
            <a:avLst/>
          </a:prstGeom>
          <a:noFill/>
          <a:ln w="22225">
            <a:solidFill>
              <a:srgbClr val="7B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31352" y="452628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B4FB0"/>
                </a:solidFill>
                <a:latin typeface="Calibri"/>
              </a:rPr>
              <a:t>13</a:t>
            </a:r>
            <a:r>
              <a:rPr sz="950" b="0">
                <a:solidFill>
                  <a:srgbClr val="1B2233"/>
                </a:solidFill>
                <a:latin typeface="Calibri"/>
              </a:rPr>
              <a:t>  FTEs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02167" y="4837176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7B4FB0"/>
                </a:solidFill>
                <a:latin typeface="Calibri"/>
              </a:rPr>
              <a:t>KEY ACTIVITIES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02167" y="5029200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Recon development &amp; enhancement - JIRA stories, Agile business proxy, UAT / BUAT sign-off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Data acquisition &amp; transformation via DEH / TIER &amp; DataStage; mapping logic and static config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Recon governance - completeness checks, GD Recon Standard, match-rule optimisation, auto-coding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700">
                <a:solidFill>
                  <a:srgbClr val="596373"/>
                </a:solidFill>
                <a:latin typeface="Calibri"/>
              </a:rPr>
              <a:t>•  Onboarding &amp; readiness - fund / IM onboarding, offshore training, deployment coordination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43032" y="4526280"/>
            <a:ext cx="1161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7B4FB0"/>
                </a:solidFill>
                <a:latin typeface="Calibri"/>
              </a:rPr>
              <a:t>LOCATION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543032" y="4736592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Ireland (Kilkenny) 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43032" y="4910328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Poland (Gdansk) 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43032" y="5084064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US (Quincy) 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43032" y="5257800"/>
            <a:ext cx="1161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96373"/>
                </a:solidFill>
                <a:latin typeface="Calibri"/>
              </a:rPr>
              <a:t>India (Coimbatore) 1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20040" y="6473952"/>
            <a:ext cx="11521440" cy="292608"/>
          </a:xfrm>
          <a:prstGeom prst="roundRect">
            <a:avLst>
              <a:gd name="adj" fmla="val 15000"/>
            </a:avLst>
          </a:prstGeom>
          <a:solidFill>
            <a:srgbClr val="0C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Donut 112"/>
          <p:cNvSpPr/>
          <p:nvPr/>
        </p:nvSpPr>
        <p:spPr>
          <a:xfrm>
            <a:off x="457200" y="6519672"/>
            <a:ext cx="201168" cy="201168"/>
          </a:xfrm>
          <a:prstGeom prst="donut">
            <a:avLst/>
          </a:prstGeom>
          <a:noFill/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7240" y="6501384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One Program. Three Teams. One Goal.   </a:t>
            </a:r>
            <a:r>
              <a:rPr sz="950" b="0">
                <a:solidFill>
                  <a:srgbClr val="FFFFFF"/>
                </a:solidFill>
                <a:latin typeface="Calibri"/>
              </a:rPr>
              <a:t>Building a unified, scalable Data Ops organization that delivers operational excellence and consistent client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